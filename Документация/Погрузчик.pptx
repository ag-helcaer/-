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en-US"/>
              <a:t>Работа над кейсом </a:t>
            </a:r>
            <a:r>
              <a:rPr lang="en-US" altLang="ru-RU"/>
              <a:t>“</a:t>
            </a:r>
            <a:r>
              <a:rPr lang="ru-RU" altLang="ru-RU"/>
              <a:t>Погрузчик</a:t>
            </a:r>
            <a:r>
              <a:rPr lang="en-US" altLang="ru-RU"/>
              <a:t>”</a:t>
            </a:r>
            <a:endParaRPr lang="en-US" altLang="ru-RU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0380" y="2927350"/>
            <a:ext cx="8241665" cy="1752600"/>
          </a:xfrm>
        </p:spPr>
        <p:txBody>
          <a:bodyPr/>
          <a:lstStyle/>
          <a:p>
            <a:r>
              <a:rPr lang="ru-RU" altLang="en-US"/>
              <a:t>Разработка механизма стрелы и ковша.</a:t>
            </a:r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3552190" y="4679315"/>
            <a:ext cx="8112760" cy="2047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ru-RU" altLang="en-US" sz="2000"/>
              <a:t>Выполнила команда</a:t>
            </a:r>
            <a:r>
              <a:rPr lang="en-US" altLang="en-US" sz="2000"/>
              <a:t>:</a:t>
            </a:r>
            <a:r>
              <a:rPr lang="ru-RU" altLang="en-US"/>
              <a:t> </a:t>
            </a:r>
            <a:r>
              <a:rPr lang="en-US" altLang="en-US"/>
              <a:t>“</a:t>
            </a:r>
            <a:r>
              <a:rPr lang="ru-RU" altLang="en-US"/>
              <a:t>Проект захват</a:t>
            </a:r>
            <a:r>
              <a:rPr lang="en-US" altLang="en-US"/>
              <a:t>”</a:t>
            </a:r>
            <a:endParaRPr lang="en-US" altLang="en-US"/>
          </a:p>
          <a:p>
            <a:pPr algn="r"/>
            <a:r>
              <a:rPr lang="ru-RU" altLang="en-US"/>
              <a:t>Фурман Роман</a:t>
            </a:r>
            <a:endParaRPr lang="ru-RU" altLang="en-US"/>
          </a:p>
          <a:p>
            <a:pPr algn="r"/>
            <a:r>
              <a:rPr lang="ru-RU" altLang="en-US"/>
              <a:t>Мария Шорохова</a:t>
            </a:r>
            <a:endParaRPr lang="ru-RU" altLang="en-US"/>
          </a:p>
          <a:p>
            <a:pPr algn="r"/>
            <a:r>
              <a:rPr lang="ru-RU" altLang="en-US"/>
              <a:t>Попов Борис</a:t>
            </a:r>
            <a:endParaRPr lang="ru-RU" altLang="en-US"/>
          </a:p>
          <a:p>
            <a:pPr algn="r"/>
            <a:r>
              <a:rPr lang="ru-RU" altLang="en-US"/>
              <a:t>Научный руководитель/Наставник</a:t>
            </a:r>
            <a:r>
              <a:rPr lang="en-US" altLang="en-US"/>
              <a:t>:</a:t>
            </a:r>
            <a:endParaRPr lang="ru-RU" altLang="en-US"/>
          </a:p>
          <a:p>
            <a:pPr algn="r"/>
            <a:r>
              <a:rPr lang="ru-RU" altLang="en-US"/>
              <a:t>Попов Алексей Дмитриевич</a:t>
            </a:r>
            <a:endParaRPr lang="ru-RU" altLang="en-US"/>
          </a:p>
        </p:txBody>
      </p:sp>
      <p:pic>
        <p:nvPicPr>
          <p:cNvPr id="9" name="Изображение 8" descr="2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" y="196215"/>
            <a:ext cx="4581525" cy="1362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Актуальность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174750"/>
            <a:ext cx="5485765" cy="5488305"/>
          </a:xfrm>
        </p:spPr>
        <p:txBody>
          <a:bodyPr/>
          <a:p>
            <a:r>
              <a:rPr lang="en-US" altLang="en-US" sz="2000"/>
              <a:t>Разработка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совершенствование</a:t>
            </a:r>
            <a:r>
              <a:rPr lang="en-US" altLang="ru-RU" sz="2000"/>
              <a:t> </a:t>
            </a:r>
            <a:r>
              <a:rPr lang="en-US" altLang="en-US" sz="2000"/>
              <a:t>рабочего</a:t>
            </a:r>
            <a:r>
              <a:rPr lang="en-US" altLang="ru-RU" sz="2000"/>
              <a:t> </a:t>
            </a:r>
            <a:r>
              <a:rPr lang="en-US" altLang="en-US" sz="2000"/>
              <a:t>органа</a:t>
            </a:r>
            <a:r>
              <a:rPr lang="en-US" altLang="ru-RU" sz="2000"/>
              <a:t> </a:t>
            </a:r>
            <a:r>
              <a:rPr lang="" altLang="en-US" sz="2000"/>
              <a:t>«</a:t>
            </a:r>
            <a:r>
              <a:rPr lang="en-US" altLang="en-US" sz="2000"/>
              <a:t>стрела</a:t>
            </a:r>
            <a:r>
              <a:rPr lang="en-US" altLang="ru-RU" sz="2000"/>
              <a:t> + </a:t>
            </a:r>
            <a:r>
              <a:rPr lang="en-US" altLang="en-US" sz="2000"/>
              <a:t>ковш</a:t>
            </a:r>
            <a:r>
              <a:rPr lang="" altLang="en-US" sz="2000"/>
              <a:t>»</a:t>
            </a:r>
            <a:r>
              <a:rPr lang="en-US" altLang="ru-RU" sz="2000"/>
              <a:t>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погрузчиков</a:t>
            </a:r>
            <a:r>
              <a:rPr lang="en-US" altLang="ru-RU" sz="2000"/>
              <a:t> </a:t>
            </a:r>
            <a:r>
              <a:rPr lang="en-US" altLang="en-US" sz="2000"/>
              <a:t>остаётся</a:t>
            </a:r>
            <a:r>
              <a:rPr lang="en-US" altLang="ru-RU" sz="2000"/>
              <a:t> </a:t>
            </a:r>
            <a:r>
              <a:rPr lang="en-US" altLang="en-US" sz="2000"/>
              <a:t>актуальной</a:t>
            </a:r>
            <a:r>
              <a:rPr lang="en-US" altLang="ru-RU" sz="2000"/>
              <a:t> </a:t>
            </a:r>
            <a:r>
              <a:rPr lang="en-US" altLang="en-US" sz="2000"/>
              <a:t>по</a:t>
            </a:r>
            <a:r>
              <a:rPr lang="en-US" altLang="ru-RU" sz="2000"/>
              <a:t> </a:t>
            </a:r>
            <a:r>
              <a:rPr lang="en-US" altLang="en-US" sz="2000"/>
              <a:t>совокупности</a:t>
            </a:r>
            <a:r>
              <a:rPr lang="en-US" altLang="ru-RU" sz="2000"/>
              <a:t> </a:t>
            </a:r>
            <a:r>
              <a:rPr lang="en-US" altLang="en-US" sz="2000"/>
              <a:t>технических</a:t>
            </a:r>
            <a:r>
              <a:rPr lang="en-US" altLang="ru-RU" sz="2000"/>
              <a:t>, </a:t>
            </a:r>
            <a:r>
              <a:rPr lang="en-US" altLang="en-US" sz="2000"/>
              <a:t>экономических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эксплуатационных</a:t>
            </a:r>
            <a:r>
              <a:rPr lang="en-US" altLang="ru-RU" sz="2000"/>
              <a:t> </a:t>
            </a:r>
            <a:r>
              <a:rPr lang="en-US" altLang="en-US" sz="2000"/>
              <a:t>причин</a:t>
            </a:r>
            <a:r>
              <a:rPr lang="en-US" altLang="ru-RU" sz="2000"/>
              <a:t>. </a:t>
            </a:r>
            <a:r>
              <a:rPr lang="en-US" altLang="en-US" sz="2000"/>
              <a:t>Современная</a:t>
            </a:r>
            <a:r>
              <a:rPr lang="en-US" altLang="ru-RU" sz="2000"/>
              <a:t> </a:t>
            </a:r>
            <a:r>
              <a:rPr lang="en-US" altLang="en-US" sz="2000"/>
              <a:t>строительная</a:t>
            </a:r>
            <a:r>
              <a:rPr lang="en-US" altLang="ru-RU" sz="2000"/>
              <a:t>, </a:t>
            </a:r>
            <a:r>
              <a:rPr lang="en-US" altLang="en-US" sz="2000"/>
              <a:t>дорожная</a:t>
            </a:r>
            <a:r>
              <a:rPr lang="en-US" altLang="ru-RU" sz="2000"/>
              <a:t>, </a:t>
            </a:r>
            <a:r>
              <a:rPr lang="en-US" altLang="en-US" sz="2000"/>
              <a:t>сельскохозяйственная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горнодобывающая</a:t>
            </a:r>
            <a:r>
              <a:rPr lang="en-US" altLang="ru-RU" sz="2000"/>
              <a:t> </a:t>
            </a:r>
            <a:r>
              <a:rPr lang="en-US" altLang="en-US" sz="2000"/>
              <a:t>техника</a:t>
            </a:r>
            <a:r>
              <a:rPr lang="en-US" altLang="ru-RU" sz="2000"/>
              <a:t> </a:t>
            </a:r>
            <a:r>
              <a:rPr lang="en-US" altLang="en-US" sz="2000"/>
              <a:t>требуют</a:t>
            </a:r>
            <a:r>
              <a:rPr lang="en-US" altLang="ru-RU" sz="2000"/>
              <a:t> </a:t>
            </a:r>
            <a:r>
              <a:rPr lang="en-US" altLang="en-US" sz="2000"/>
              <a:t>универсальных</a:t>
            </a:r>
            <a:r>
              <a:rPr lang="en-US" altLang="ru-RU" sz="2000"/>
              <a:t>, </a:t>
            </a:r>
            <a:r>
              <a:rPr lang="en-US" altLang="en-US" sz="2000"/>
              <a:t>надёжных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энергоэффективных</a:t>
            </a:r>
            <a:r>
              <a:rPr lang="en-US" altLang="ru-RU" sz="2000"/>
              <a:t> </a:t>
            </a:r>
            <a:r>
              <a:rPr lang="en-US" altLang="en-US" sz="2000"/>
              <a:t>механизмов</a:t>
            </a:r>
            <a:r>
              <a:rPr lang="en-US" altLang="ru-RU" sz="2000"/>
              <a:t> </a:t>
            </a:r>
            <a:r>
              <a:rPr lang="en-US" altLang="en-US" sz="2000"/>
              <a:t>захвата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перемещения</a:t>
            </a:r>
            <a:r>
              <a:rPr lang="en-US" altLang="ru-RU" sz="2000"/>
              <a:t> </a:t>
            </a:r>
            <a:r>
              <a:rPr lang="en-US" altLang="en-US" sz="2000"/>
              <a:t>сыпучих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крупнофракционных</a:t>
            </a:r>
            <a:r>
              <a:rPr lang="en-US" altLang="ru-RU" sz="2000"/>
              <a:t> </a:t>
            </a:r>
            <a:r>
              <a:rPr lang="en-US" altLang="en-US" sz="2000"/>
              <a:t>материалов</a:t>
            </a:r>
            <a:r>
              <a:rPr lang="en-US" altLang="ru-RU" sz="2000"/>
              <a:t>. </a:t>
            </a:r>
            <a:r>
              <a:rPr lang="en-US" altLang="en-US" sz="2000"/>
              <a:t>Повышение</a:t>
            </a:r>
            <a:r>
              <a:rPr lang="en-US" altLang="ru-RU" sz="2000"/>
              <a:t> </a:t>
            </a:r>
            <a:r>
              <a:rPr lang="en-US" altLang="en-US" sz="2000"/>
              <a:t>производительности</a:t>
            </a:r>
            <a:r>
              <a:rPr lang="en-US" altLang="ru-RU" sz="2000"/>
              <a:t> </a:t>
            </a:r>
            <a:r>
              <a:rPr lang="en-US" altLang="en-US" sz="2000"/>
              <a:t>машин</a:t>
            </a:r>
            <a:r>
              <a:rPr lang="en-US" altLang="ru-RU" sz="2000"/>
              <a:t> </a:t>
            </a:r>
            <a:r>
              <a:rPr lang="en-US" altLang="en-US" sz="2000"/>
              <a:t>при</a:t>
            </a:r>
            <a:r>
              <a:rPr lang="en-US" altLang="ru-RU" sz="2000"/>
              <a:t> </a:t>
            </a:r>
            <a:r>
              <a:rPr lang="en-US" altLang="en-US" sz="2000"/>
              <a:t>одновременном</a:t>
            </a:r>
            <a:r>
              <a:rPr lang="en-US" altLang="ru-RU" sz="2000"/>
              <a:t> </a:t>
            </a:r>
            <a:r>
              <a:rPr lang="en-US" altLang="en-US" sz="2000"/>
              <a:t>снижении</a:t>
            </a:r>
            <a:r>
              <a:rPr lang="en-US" altLang="ru-RU" sz="2000"/>
              <a:t> </a:t>
            </a:r>
            <a:r>
              <a:rPr lang="en-US" altLang="en-US" sz="2000"/>
              <a:t>энергозатрат</a:t>
            </a:r>
            <a:r>
              <a:rPr lang="en-US" altLang="ru-RU" sz="2000"/>
              <a:t>, </a:t>
            </a:r>
            <a:r>
              <a:rPr lang="en-US" altLang="en-US" sz="2000"/>
              <a:t>износа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времени</a:t>
            </a:r>
            <a:r>
              <a:rPr lang="en-US" altLang="ru-RU" sz="2000"/>
              <a:t> </a:t>
            </a:r>
            <a:r>
              <a:rPr lang="en-US" altLang="en-US" sz="2000"/>
              <a:t>простоя</a:t>
            </a:r>
            <a:r>
              <a:rPr lang="en-US" altLang="ru-RU" sz="2000"/>
              <a:t> — </a:t>
            </a:r>
            <a:r>
              <a:rPr lang="en-US" altLang="en-US" sz="2000"/>
              <a:t>ключевая</a:t>
            </a:r>
            <a:r>
              <a:rPr lang="en-US" altLang="ru-RU" sz="2000"/>
              <a:t> </a:t>
            </a:r>
            <a:r>
              <a:rPr lang="en-US" altLang="en-US" sz="2000"/>
              <a:t>задача</a:t>
            </a:r>
            <a:r>
              <a:rPr lang="en-US" altLang="ru-RU" sz="2000"/>
              <a:t> </a:t>
            </a:r>
            <a:r>
              <a:rPr lang="en-US" altLang="en-US" sz="2000"/>
              <a:t>производителей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пользователей</a:t>
            </a:r>
            <a:r>
              <a:rPr lang="en-US" altLang="ru-RU" sz="2000"/>
              <a:t> </a:t>
            </a:r>
            <a:r>
              <a:rPr lang="en-US" altLang="en-US" sz="2000"/>
              <a:t>техники</a:t>
            </a:r>
            <a:r>
              <a:rPr lang="en-US" altLang="ru-RU" sz="2000"/>
              <a:t>.</a:t>
            </a:r>
            <a:endParaRPr lang="en-US" altLang="ru-RU" sz="2000"/>
          </a:p>
        </p:txBody>
      </p:sp>
      <p:pic>
        <p:nvPicPr>
          <p:cNvPr id="4" name="Изображение 3" descr="p465-1664312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4485" y="1797685"/>
            <a:ext cx="11689715" cy="3775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Цели и задачи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880110"/>
            <a:ext cx="8688070" cy="5542280"/>
          </a:xfrm>
        </p:spPr>
        <p:txBody>
          <a:bodyPr/>
          <a:p>
            <a:pPr marL="0" indent="0">
              <a:buNone/>
            </a:pPr>
            <a:r>
              <a:rPr lang="ru-RU" altLang="en-US" sz="2000"/>
              <a:t>Цель работы</a:t>
            </a:r>
            <a:r>
              <a:rPr lang="en-US" altLang="en-US" sz="2000"/>
              <a:t>: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С</a:t>
            </a:r>
            <a:r>
              <a:rPr lang="en-US" altLang="en-US" sz="2000"/>
              <a:t>оздание</a:t>
            </a:r>
            <a:r>
              <a:rPr lang="en-US" altLang="ru-RU" sz="2000"/>
              <a:t> </a:t>
            </a:r>
            <a:r>
              <a:rPr lang="en-US" altLang="en-US" sz="2000"/>
              <a:t>упрощённой</a:t>
            </a:r>
            <a:r>
              <a:rPr lang="en-US" altLang="ru-RU" sz="2000"/>
              <a:t>, </a:t>
            </a:r>
            <a:r>
              <a:rPr lang="en-US" altLang="en-US" sz="2000"/>
              <a:t>но</a:t>
            </a:r>
            <a:r>
              <a:rPr lang="en-US" altLang="ru-RU" sz="2000"/>
              <a:t> </a:t>
            </a:r>
            <a:r>
              <a:rPr lang="en-US" altLang="en-US" sz="2000"/>
              <a:t>наглядной</a:t>
            </a:r>
            <a:r>
              <a:rPr lang="en-US" altLang="ru-RU" sz="2000"/>
              <a:t> </a:t>
            </a:r>
            <a:r>
              <a:rPr lang="en-US" altLang="en-US" sz="2000"/>
              <a:t>модели</a:t>
            </a:r>
            <a:r>
              <a:rPr lang="en-US" altLang="ru-RU" sz="2000"/>
              <a:t> </a:t>
            </a:r>
            <a:r>
              <a:rPr lang="en-US" altLang="en-US" sz="2000"/>
              <a:t>механизма</a:t>
            </a:r>
            <a:r>
              <a:rPr lang="en-US" altLang="ru-RU" sz="2000"/>
              <a:t> </a:t>
            </a:r>
            <a:r>
              <a:rPr lang="" altLang="en-US" sz="2000"/>
              <a:t>«</a:t>
            </a:r>
            <a:r>
              <a:rPr lang="en-US" altLang="en-US" sz="2000"/>
              <a:t>стрела</a:t>
            </a:r>
            <a:r>
              <a:rPr lang="en-US" altLang="ru-RU" sz="2000"/>
              <a:t> + </a:t>
            </a:r>
            <a:r>
              <a:rPr lang="en-US" altLang="en-US" sz="2000"/>
              <a:t>ковш</a:t>
            </a:r>
            <a:r>
              <a:rPr lang="" altLang="en-US" sz="2000"/>
              <a:t>»</a:t>
            </a:r>
            <a:r>
              <a:rPr lang="en-US" altLang="ru-RU" sz="2000"/>
              <a:t>, </a:t>
            </a:r>
            <a:r>
              <a:rPr lang="en-US" altLang="en-US" sz="2000"/>
              <a:t>которая</a:t>
            </a:r>
            <a:r>
              <a:rPr lang="en-US" altLang="ru-RU" sz="2000"/>
              <a:t> </a:t>
            </a:r>
            <a:r>
              <a:rPr lang="en-US" altLang="en-US" sz="2000"/>
              <a:t>позволяет</a:t>
            </a:r>
            <a:r>
              <a:rPr lang="en-US" altLang="ru-RU" sz="2000"/>
              <a:t> </a:t>
            </a:r>
            <a:r>
              <a:rPr lang="en-US" altLang="en-US" sz="2000"/>
              <a:t>показать</a:t>
            </a:r>
            <a:r>
              <a:rPr lang="en-US" altLang="ru-RU" sz="2000"/>
              <a:t> </a:t>
            </a:r>
            <a:r>
              <a:rPr lang="en-US" altLang="en-US" sz="2000"/>
              <a:t>принципы</a:t>
            </a:r>
            <a:r>
              <a:rPr lang="en-US" altLang="ru-RU" sz="2000"/>
              <a:t> </a:t>
            </a:r>
            <a:r>
              <a:rPr lang="en-US" altLang="en-US" sz="2000"/>
              <a:t>работы</a:t>
            </a:r>
            <a:r>
              <a:rPr lang="en-US" altLang="ru-RU" sz="2000"/>
              <a:t> </a:t>
            </a:r>
            <a:r>
              <a:rPr lang="en-US" altLang="en-US" sz="2000"/>
              <a:t>настоящего</a:t>
            </a:r>
            <a:r>
              <a:rPr lang="en-US" altLang="ru-RU" sz="2000"/>
              <a:t> </a:t>
            </a:r>
            <a:r>
              <a:rPr lang="en-US" altLang="en-US" sz="2000"/>
              <a:t>погрузчика</a:t>
            </a:r>
            <a:r>
              <a:rPr lang="en-US" altLang="ru-RU" sz="2000"/>
              <a:t>.</a:t>
            </a:r>
            <a:endParaRPr lang="en-US" altLang="en-US" sz="2000"/>
          </a:p>
          <a:p>
            <a:pPr marL="0" indent="0">
              <a:buNone/>
            </a:pP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Задачи</a:t>
            </a:r>
            <a:r>
              <a:rPr lang="en-US" altLang="en-US" sz="2000"/>
              <a:t>:</a:t>
            </a:r>
            <a:endParaRPr lang="en-US" altLang="en-US" sz="2000"/>
          </a:p>
          <a:p>
            <a:r>
              <a:rPr lang="en-US" altLang="en-US" sz="2000"/>
              <a:t>Создать</a:t>
            </a:r>
            <a:r>
              <a:rPr lang="en-US" altLang="ru-RU" sz="2000"/>
              <a:t> </a:t>
            </a:r>
            <a:r>
              <a:rPr lang="en-US" altLang="en-US" sz="2000"/>
              <a:t>действующую</a:t>
            </a:r>
            <a:r>
              <a:rPr lang="en-US" altLang="ru-RU" sz="2000"/>
              <a:t> </a:t>
            </a:r>
            <a:r>
              <a:rPr lang="en-US" altLang="en-US" sz="2000"/>
              <a:t>модель</a:t>
            </a:r>
            <a:r>
              <a:rPr lang="en-US" altLang="ru-RU" sz="2000"/>
              <a:t> </a:t>
            </a:r>
            <a:r>
              <a:rPr lang="en-US" altLang="en-US" sz="2000"/>
              <a:t>механизма</a:t>
            </a:r>
            <a:r>
              <a:rPr lang="en-US" altLang="ru-RU" sz="2000"/>
              <a:t> </a:t>
            </a:r>
            <a:r>
              <a:rPr lang="" altLang="en-US" sz="2000"/>
              <a:t>«</a:t>
            </a:r>
            <a:r>
              <a:rPr lang="en-US" altLang="en-US" sz="2000"/>
              <a:t>стрела</a:t>
            </a:r>
            <a:r>
              <a:rPr lang="en-US" altLang="ru-RU" sz="2000"/>
              <a:t> + </a:t>
            </a:r>
            <a:r>
              <a:rPr lang="en-US" altLang="en-US" sz="2000"/>
              <a:t>ковш</a:t>
            </a:r>
            <a:r>
              <a:rPr lang="" altLang="en-US" sz="2000"/>
              <a:t>»</a:t>
            </a:r>
            <a:r>
              <a:rPr lang="en-US" altLang="ru-RU" sz="2000"/>
              <a:t> </a:t>
            </a:r>
            <a:r>
              <a:rPr lang="en-US" altLang="en-US" sz="2000"/>
              <a:t>погрузчика</a:t>
            </a:r>
            <a:r>
              <a:rPr lang="en-US" altLang="ru-RU" sz="2000"/>
              <a:t> </a:t>
            </a:r>
            <a:r>
              <a:rPr lang="en-US" altLang="en-US" sz="2000"/>
              <a:t>из</a:t>
            </a:r>
            <a:r>
              <a:rPr lang="en-US" altLang="ru-RU" sz="2000"/>
              <a:t> </a:t>
            </a:r>
            <a:r>
              <a:rPr lang="en-US" altLang="en-US" sz="2000"/>
              <a:t>фанеры</a:t>
            </a:r>
            <a:r>
              <a:rPr lang="en-US" altLang="ru-RU" sz="2000"/>
              <a:t>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демонстрации</a:t>
            </a:r>
            <a:r>
              <a:rPr lang="en-US" altLang="ru-RU" sz="2000"/>
              <a:t> </a:t>
            </a:r>
            <a:r>
              <a:rPr lang="en-US" altLang="en-US" sz="2000"/>
              <a:t>принципа</a:t>
            </a:r>
            <a:r>
              <a:rPr lang="en-US" altLang="ru-RU" sz="2000"/>
              <a:t> </a:t>
            </a:r>
            <a:r>
              <a:rPr lang="en-US" altLang="en-US" sz="2000"/>
              <a:t>работы</a:t>
            </a:r>
            <a:r>
              <a:rPr lang="en-US" altLang="ru-RU" sz="2000"/>
              <a:t>.</a:t>
            </a:r>
            <a:endParaRPr lang="en-US" altLang="ru-RU" sz="2000"/>
          </a:p>
          <a:p>
            <a:endParaRPr lang="en-US" altLang="ru-RU" sz="2000"/>
          </a:p>
          <a:p>
            <a:r>
              <a:rPr lang="en-US" altLang="en-US" sz="2000"/>
              <a:t>Показать</a:t>
            </a:r>
            <a:r>
              <a:rPr lang="en-US" altLang="ru-RU" sz="2000"/>
              <a:t> </a:t>
            </a:r>
            <a:r>
              <a:rPr lang="en-US" altLang="en-US" sz="2000"/>
              <a:t>основные</a:t>
            </a:r>
            <a:r>
              <a:rPr lang="en-US" altLang="ru-RU" sz="2000"/>
              <a:t> </a:t>
            </a:r>
            <a:r>
              <a:rPr lang="en-US" altLang="en-US" sz="2000"/>
              <a:t>движения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взаимодействие</a:t>
            </a:r>
            <a:r>
              <a:rPr lang="en-US" altLang="ru-RU" sz="2000"/>
              <a:t> </a:t>
            </a:r>
            <a:r>
              <a:rPr lang="en-US" altLang="en-US" sz="2000"/>
              <a:t>деталей</a:t>
            </a:r>
            <a:r>
              <a:rPr lang="en-US" altLang="ru-RU" sz="2000"/>
              <a:t> (</a:t>
            </a:r>
            <a:r>
              <a:rPr lang="en-US" altLang="en-US" sz="2000"/>
              <a:t>подъём</a:t>
            </a:r>
            <a:r>
              <a:rPr lang="en-US" altLang="ru-RU" sz="2000"/>
              <a:t>, </a:t>
            </a:r>
            <a:r>
              <a:rPr lang="en-US" altLang="en-US" sz="2000"/>
              <a:t>опускание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поворот</a:t>
            </a:r>
            <a:r>
              <a:rPr lang="en-US" altLang="ru-RU" sz="2000"/>
              <a:t> </a:t>
            </a:r>
            <a:r>
              <a:rPr lang="en-US" altLang="en-US" sz="2000"/>
              <a:t>ковша</a:t>
            </a:r>
            <a:r>
              <a:rPr lang="en-US" altLang="ru-RU" sz="2000"/>
              <a:t>).</a:t>
            </a:r>
            <a:endParaRPr lang="en-US" altLang="ru-RU" sz="2000"/>
          </a:p>
          <a:p>
            <a:endParaRPr lang="en-US" altLang="ru-RU" sz="2000"/>
          </a:p>
          <a:p>
            <a:r>
              <a:rPr lang="en-US" altLang="en-US" sz="2000"/>
              <a:t>Развить</a:t>
            </a:r>
            <a:r>
              <a:rPr lang="en-US" altLang="ru-RU" sz="2000"/>
              <a:t> </a:t>
            </a:r>
            <a:r>
              <a:rPr lang="en-US" altLang="en-US" sz="2000"/>
              <a:t>навыки</a:t>
            </a:r>
            <a:r>
              <a:rPr lang="en-US" altLang="ru-RU" sz="2000"/>
              <a:t> </a:t>
            </a:r>
            <a:r>
              <a:rPr lang="en-US" altLang="en-US" sz="2000"/>
              <a:t>проектирования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сборки</a:t>
            </a:r>
            <a:r>
              <a:rPr lang="en-US" altLang="ru-RU" sz="2000"/>
              <a:t> </a:t>
            </a:r>
            <a:r>
              <a:rPr lang="en-US" altLang="en-US" sz="2000"/>
              <a:t>механических</a:t>
            </a:r>
            <a:r>
              <a:rPr lang="en-US" altLang="ru-RU" sz="2000"/>
              <a:t> </a:t>
            </a:r>
            <a:r>
              <a:rPr lang="en-US" altLang="en-US" sz="2000"/>
              <a:t>систем</a:t>
            </a:r>
            <a:r>
              <a:rPr lang="en-US" altLang="ru-RU" sz="2000"/>
              <a:t>.</a:t>
            </a:r>
            <a:endParaRPr lang="en-US" altLang="ru-RU" sz="2000"/>
          </a:p>
          <a:p>
            <a:endParaRPr lang="en-US" altLang="ru-RU" sz="2000"/>
          </a:p>
          <a:p>
            <a:r>
              <a:rPr lang="en-US" altLang="en-US" sz="2000"/>
              <a:t>Подготовить</a:t>
            </a:r>
            <a:r>
              <a:rPr lang="en-US" altLang="ru-RU" sz="2000"/>
              <a:t> </a:t>
            </a:r>
            <a:r>
              <a:rPr lang="en-US" altLang="en-US" sz="2000"/>
              <a:t>макет</a:t>
            </a:r>
            <a:r>
              <a:rPr lang="en-US" altLang="ru-RU" sz="2000"/>
              <a:t>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участия</a:t>
            </a:r>
            <a:r>
              <a:rPr lang="en-US" altLang="ru-RU" sz="2000"/>
              <a:t> </a:t>
            </a: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конкурсе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демонстрации</a:t>
            </a:r>
            <a:r>
              <a:rPr lang="en-US" altLang="ru-RU" sz="2000"/>
              <a:t> </a:t>
            </a:r>
            <a:r>
              <a:rPr lang="en-US" altLang="en-US" sz="2000"/>
              <a:t>инженерной</a:t>
            </a:r>
            <a:r>
              <a:rPr lang="en-US" altLang="ru-RU" sz="2000"/>
              <a:t> </a:t>
            </a:r>
            <a:r>
              <a:rPr lang="en-US" altLang="en-US" sz="2000"/>
              <a:t>идеи</a:t>
            </a:r>
            <a:r>
              <a:rPr lang="en-US" altLang="ru-RU" sz="2000"/>
              <a:t>.</a:t>
            </a:r>
            <a:endParaRPr lang="ru-RU" altLang="en-US" sz="2000"/>
          </a:p>
          <a:p>
            <a:endParaRPr lang="ru-RU" altLang="en-US" sz="2000"/>
          </a:p>
        </p:txBody>
      </p:sp>
      <p:pic>
        <p:nvPicPr>
          <p:cNvPr id="6" name="Изображение 5" descr="D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0305" y="5092700"/>
            <a:ext cx="3129280" cy="1534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Введение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современном</a:t>
            </a:r>
            <a:r>
              <a:rPr lang="en-US" altLang="ru-RU" sz="2000"/>
              <a:t> </a:t>
            </a:r>
            <a:r>
              <a:rPr lang="en-US" altLang="en-US" sz="2000"/>
              <a:t>мире</a:t>
            </a:r>
            <a:r>
              <a:rPr lang="en-US" altLang="ru-RU" sz="2000"/>
              <a:t> </a:t>
            </a:r>
            <a:r>
              <a:rPr lang="en-US" altLang="en-US" sz="2000"/>
              <a:t>погрузчики</a:t>
            </a:r>
            <a:r>
              <a:rPr lang="en-US" altLang="ru-RU" sz="2000"/>
              <a:t> </a:t>
            </a:r>
            <a:r>
              <a:rPr lang="en-US" altLang="en-US" sz="2000"/>
              <a:t>широко</a:t>
            </a:r>
            <a:r>
              <a:rPr lang="en-US" altLang="ru-RU" sz="2000"/>
              <a:t> </a:t>
            </a:r>
            <a:r>
              <a:rPr lang="en-US" altLang="en-US" sz="2000"/>
              <a:t>применяются</a:t>
            </a:r>
            <a:r>
              <a:rPr lang="en-US" altLang="ru-RU" sz="2000"/>
              <a:t> </a:t>
            </a: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строительстве</a:t>
            </a:r>
            <a:r>
              <a:rPr lang="en-US" altLang="ru-RU" sz="2000"/>
              <a:t>, </a:t>
            </a:r>
            <a:r>
              <a:rPr lang="en-US" altLang="en-US" sz="2000"/>
              <a:t>сельском</a:t>
            </a:r>
            <a:r>
              <a:rPr lang="en-US" altLang="ru-RU" sz="2000"/>
              <a:t> </a:t>
            </a:r>
            <a:r>
              <a:rPr lang="en-US" altLang="en-US" sz="2000"/>
              <a:t>хозяйстве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промышленности</a:t>
            </a:r>
            <a:r>
              <a:rPr lang="en-US" altLang="ru-RU" sz="2000"/>
              <a:t>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перемещения</a:t>
            </a:r>
            <a:r>
              <a:rPr lang="en-US" altLang="ru-RU" sz="2000"/>
              <a:t> </a:t>
            </a:r>
            <a:r>
              <a:rPr lang="en-US" altLang="en-US" sz="2000"/>
              <a:t>сыпучих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штучных</a:t>
            </a:r>
            <a:r>
              <a:rPr lang="en-US" altLang="ru-RU" sz="2000"/>
              <a:t> </a:t>
            </a:r>
            <a:r>
              <a:rPr lang="en-US" altLang="en-US" sz="2000"/>
              <a:t>материалов</a:t>
            </a:r>
            <a:r>
              <a:rPr lang="en-US" altLang="ru-RU" sz="2000"/>
              <a:t>. </a:t>
            </a:r>
            <a:r>
              <a:rPr lang="en-US" altLang="en-US" sz="2000"/>
              <a:t>Основным</a:t>
            </a:r>
            <a:r>
              <a:rPr lang="en-US" altLang="ru-RU" sz="2000"/>
              <a:t> </a:t>
            </a:r>
            <a:r>
              <a:rPr lang="en-US" altLang="en-US" sz="2000"/>
              <a:t>рабочим</a:t>
            </a:r>
            <a:r>
              <a:rPr lang="en-US" altLang="ru-RU" sz="2000"/>
              <a:t> </a:t>
            </a:r>
            <a:r>
              <a:rPr lang="en-US" altLang="en-US" sz="2000"/>
              <a:t>органом</a:t>
            </a:r>
            <a:r>
              <a:rPr lang="en-US" altLang="ru-RU" sz="2000"/>
              <a:t> </a:t>
            </a:r>
            <a:r>
              <a:rPr lang="en-US" altLang="en-US" sz="2000"/>
              <a:t>таких</a:t>
            </a:r>
            <a:r>
              <a:rPr lang="en-US" altLang="ru-RU" sz="2000"/>
              <a:t> </a:t>
            </a:r>
            <a:r>
              <a:rPr lang="en-US" altLang="en-US" sz="2000"/>
              <a:t>машин</a:t>
            </a:r>
            <a:r>
              <a:rPr lang="en-US" altLang="ru-RU" sz="2000"/>
              <a:t> </a:t>
            </a:r>
            <a:r>
              <a:rPr lang="en-US" altLang="en-US" sz="2000"/>
              <a:t>является</a:t>
            </a:r>
            <a:r>
              <a:rPr lang="en-US" altLang="ru-RU" sz="2000"/>
              <a:t> </a:t>
            </a:r>
            <a:r>
              <a:rPr lang="en-US" altLang="en-US" sz="2000"/>
              <a:t>механизм</a:t>
            </a:r>
            <a:r>
              <a:rPr lang="en-US" altLang="ru-RU" sz="2000"/>
              <a:t> </a:t>
            </a:r>
            <a:r>
              <a:rPr lang="" altLang="en-US" sz="2000"/>
              <a:t>«</a:t>
            </a:r>
            <a:r>
              <a:rPr lang="en-US" altLang="en-US" sz="2000"/>
              <a:t>стрела</a:t>
            </a:r>
            <a:r>
              <a:rPr lang="en-US" altLang="ru-RU" sz="2000"/>
              <a:t> + </a:t>
            </a:r>
            <a:r>
              <a:rPr lang="en-US" altLang="en-US" sz="2000"/>
              <a:t>ковш</a:t>
            </a:r>
            <a:r>
              <a:rPr lang="" altLang="en-US" sz="2000"/>
              <a:t>»</a:t>
            </a:r>
            <a:r>
              <a:rPr lang="en-US" altLang="ru-RU" sz="2000"/>
              <a:t>, </a:t>
            </a:r>
            <a:r>
              <a:rPr lang="en-US" altLang="en-US" sz="2000"/>
              <a:t>от</a:t>
            </a:r>
            <a:r>
              <a:rPr lang="en-US" altLang="ru-RU" sz="2000"/>
              <a:t> </a:t>
            </a:r>
            <a:r>
              <a:rPr lang="en-US" altLang="en-US" sz="2000"/>
              <a:t>которого</a:t>
            </a:r>
            <a:r>
              <a:rPr lang="en-US" altLang="ru-RU" sz="2000"/>
              <a:t> </a:t>
            </a:r>
            <a:r>
              <a:rPr lang="en-US" altLang="en-US" sz="2000"/>
              <a:t>зависят</a:t>
            </a:r>
            <a:r>
              <a:rPr lang="en-US" altLang="ru-RU" sz="2000"/>
              <a:t> </a:t>
            </a:r>
            <a:r>
              <a:rPr lang="en-US" altLang="en-US" sz="2000"/>
              <a:t>производительность</a:t>
            </a:r>
            <a:r>
              <a:rPr lang="en-US" altLang="ru-RU" sz="2000"/>
              <a:t>, </a:t>
            </a:r>
            <a:r>
              <a:rPr lang="en-US" altLang="en-US" sz="2000"/>
              <a:t>удобство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надёжность</a:t>
            </a:r>
            <a:r>
              <a:rPr lang="en-US" altLang="ru-RU" sz="2000"/>
              <a:t> </a:t>
            </a:r>
            <a:r>
              <a:rPr lang="en-US" altLang="en-US" sz="2000"/>
              <a:t>работы</a:t>
            </a:r>
            <a:r>
              <a:rPr lang="en-US" altLang="ru-RU" sz="2000"/>
              <a:t> </a:t>
            </a:r>
            <a:r>
              <a:rPr lang="en-US" altLang="en-US" sz="2000"/>
              <a:t>техники</a:t>
            </a:r>
            <a:r>
              <a:rPr lang="en-US" altLang="ru-RU" sz="2000"/>
              <a:t>.</a:t>
            </a:r>
            <a:endParaRPr lang="en-US" altLang="ru-RU" sz="2000"/>
          </a:p>
          <a:p>
            <a:pPr marL="0" indent="0">
              <a:buNone/>
            </a:pP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рамках</a:t>
            </a:r>
            <a:r>
              <a:rPr lang="en-US" altLang="ru-RU" sz="2000"/>
              <a:t> </a:t>
            </a:r>
            <a:r>
              <a:rPr lang="en-US" altLang="en-US" sz="2000"/>
              <a:t>конкурсного</a:t>
            </a:r>
            <a:r>
              <a:rPr lang="en-US" altLang="ru-RU" sz="2000"/>
              <a:t> </a:t>
            </a:r>
            <a:r>
              <a:rPr lang="en-US" altLang="en-US" sz="2000"/>
              <a:t>задания</a:t>
            </a:r>
            <a:r>
              <a:rPr lang="en-US" altLang="ru-RU" sz="2000"/>
              <a:t> </a:t>
            </a:r>
            <a:r>
              <a:rPr lang="ru-RU" altLang="en-US" sz="2000"/>
              <a:t>нам </a:t>
            </a:r>
            <a:r>
              <a:rPr lang="en-US" altLang="en-US" sz="2000"/>
              <a:t>была</a:t>
            </a:r>
            <a:r>
              <a:rPr lang="en-US" altLang="ru-RU" sz="2000"/>
              <a:t> </a:t>
            </a:r>
            <a:r>
              <a:rPr lang="en-US" altLang="en-US" sz="2000"/>
              <a:t>предоставлена</a:t>
            </a:r>
            <a:r>
              <a:rPr lang="en-US" altLang="ru-RU" sz="2000"/>
              <a:t> </a:t>
            </a:r>
            <a:r>
              <a:rPr lang="en-US" altLang="en-US" sz="2000"/>
              <a:t>базовая</a:t>
            </a:r>
            <a:r>
              <a:rPr lang="en-US" altLang="ru-RU" sz="2000"/>
              <a:t> </a:t>
            </a:r>
            <a:r>
              <a:rPr lang="en-US" altLang="en-US" sz="2000"/>
              <a:t>сборочная</a:t>
            </a:r>
            <a:r>
              <a:rPr lang="en-US" altLang="ru-RU" sz="2000"/>
              <a:t> </a:t>
            </a:r>
            <a:r>
              <a:rPr lang="en-US" altLang="en-US" sz="2000"/>
              <a:t>модель</a:t>
            </a:r>
            <a:r>
              <a:rPr lang="en-US" altLang="ru-RU" sz="2000"/>
              <a:t>, </a:t>
            </a:r>
            <a:r>
              <a:rPr lang="en-US" altLang="en-US" sz="2000"/>
              <a:t>послужившая</a:t>
            </a:r>
            <a:r>
              <a:rPr lang="en-US" altLang="ru-RU" sz="2000"/>
              <a:t> </a:t>
            </a:r>
            <a:r>
              <a:rPr lang="en-US" altLang="en-US" sz="2000"/>
              <a:t>основой</a:t>
            </a:r>
            <a:r>
              <a:rPr lang="en-US" altLang="ru-RU" sz="2000"/>
              <a:t>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дальнейшей</a:t>
            </a:r>
            <a:r>
              <a:rPr lang="en-US" altLang="ru-RU" sz="2000"/>
              <a:t> </a:t>
            </a:r>
            <a:r>
              <a:rPr lang="en-US" altLang="en-US" sz="2000"/>
              <a:t>разработки</a:t>
            </a:r>
            <a:r>
              <a:rPr lang="en-US" altLang="ru-RU" sz="2000"/>
              <a:t>. </a:t>
            </a:r>
            <a:r>
              <a:rPr lang="en-US" altLang="en-US" sz="2000"/>
              <a:t>На</a:t>
            </a:r>
            <a:r>
              <a:rPr lang="en-US" altLang="ru-RU" sz="2000"/>
              <a:t> </a:t>
            </a:r>
            <a:r>
              <a:rPr lang="en-US" altLang="en-US" sz="2000"/>
              <a:t>её</a:t>
            </a:r>
            <a:r>
              <a:rPr lang="en-US" altLang="ru-RU" sz="2000"/>
              <a:t> </a:t>
            </a:r>
            <a:r>
              <a:rPr lang="en-US" altLang="en-US" sz="2000"/>
              <a:t>базе</a:t>
            </a:r>
            <a:r>
              <a:rPr lang="en-US" altLang="ru-RU" sz="2000"/>
              <a:t> </a:t>
            </a:r>
            <a:r>
              <a:rPr lang="en-US" altLang="en-US" sz="2000"/>
              <a:t>необходимо</a:t>
            </a:r>
            <a:r>
              <a:rPr lang="en-US" altLang="ru-RU" sz="2000"/>
              <a:t> </a:t>
            </a:r>
            <a:r>
              <a:rPr lang="en-US" altLang="en-US" sz="2000"/>
              <a:t>было</a:t>
            </a:r>
            <a:r>
              <a:rPr lang="en-US" altLang="ru-RU" sz="2000"/>
              <a:t> </a:t>
            </a:r>
            <a:r>
              <a:rPr lang="en-US" altLang="en-US" sz="2000"/>
              <a:t>создать</a:t>
            </a:r>
            <a:r>
              <a:rPr lang="en-US" altLang="ru-RU" sz="2000"/>
              <a:t> </a:t>
            </a:r>
            <a:r>
              <a:rPr lang="en-US" altLang="en-US" sz="2000"/>
              <a:t>собственный</a:t>
            </a:r>
            <a:r>
              <a:rPr lang="en-US" altLang="ru-RU" sz="2000"/>
              <a:t> </a:t>
            </a:r>
            <a:r>
              <a:rPr lang="en-US" altLang="en-US" sz="2000"/>
              <a:t>вариант</a:t>
            </a:r>
            <a:r>
              <a:rPr lang="en-US" altLang="ru-RU" sz="2000"/>
              <a:t> </a:t>
            </a:r>
            <a:r>
              <a:rPr lang="en-US" altLang="en-US" sz="2000"/>
              <a:t>механизма</a:t>
            </a:r>
            <a:r>
              <a:rPr lang="en-US" altLang="ru-RU" sz="2000"/>
              <a:t>, </a:t>
            </a:r>
            <a:r>
              <a:rPr lang="en-US" altLang="en-US" sz="2000"/>
              <a:t>продумать</a:t>
            </a:r>
            <a:r>
              <a:rPr lang="en-US" altLang="ru-RU" sz="2000"/>
              <a:t> </a:t>
            </a:r>
            <a:r>
              <a:rPr lang="en-US" altLang="en-US" sz="2000"/>
              <a:t>его</a:t>
            </a:r>
            <a:r>
              <a:rPr lang="en-US" altLang="ru-RU" sz="2000"/>
              <a:t> </a:t>
            </a:r>
            <a:r>
              <a:rPr lang="en-US" altLang="en-US" sz="2000"/>
              <a:t>конструкцию</a:t>
            </a:r>
            <a:r>
              <a:rPr lang="en-US" altLang="ru-RU" sz="2000"/>
              <a:t>, </a:t>
            </a:r>
            <a:r>
              <a:rPr lang="en-US" altLang="en-US" sz="2000"/>
              <a:t>принцип</a:t>
            </a:r>
            <a:r>
              <a:rPr lang="en-US" altLang="ru-RU" sz="2000"/>
              <a:t> </a:t>
            </a:r>
            <a:r>
              <a:rPr lang="en-US" altLang="en-US" sz="2000"/>
              <a:t>работы</a:t>
            </a:r>
            <a:r>
              <a:rPr lang="en-US" altLang="ru-RU" sz="2000"/>
              <a:t>, </a:t>
            </a:r>
            <a:r>
              <a:rPr lang="en-US" altLang="en-US" sz="2000"/>
              <a:t>а</a:t>
            </a:r>
            <a:r>
              <a:rPr lang="en-US" altLang="ru-RU" sz="2000"/>
              <a:t> </a:t>
            </a:r>
            <a:r>
              <a:rPr lang="en-US" altLang="en-US" sz="2000"/>
              <a:t>также</a:t>
            </a:r>
            <a:r>
              <a:rPr lang="en-US" altLang="ru-RU" sz="2000"/>
              <a:t> </a:t>
            </a:r>
            <a:r>
              <a:rPr lang="en-US" altLang="en-US" sz="2000"/>
              <a:t>выполнить</a:t>
            </a:r>
            <a:r>
              <a:rPr lang="en-US" altLang="ru-RU" sz="2000"/>
              <a:t> </a:t>
            </a:r>
            <a:r>
              <a:rPr lang="en-US" altLang="en-US" sz="2000"/>
              <a:t>сборку</a:t>
            </a:r>
            <a:r>
              <a:rPr lang="en-US" altLang="ru-RU" sz="2000"/>
              <a:t> </a:t>
            </a:r>
            <a:r>
              <a:rPr lang="en-US" altLang="en-US" sz="2000"/>
              <a:t>макета</a:t>
            </a:r>
            <a:r>
              <a:rPr lang="en-US" altLang="ru-RU" sz="2000"/>
              <a:t> </a:t>
            </a:r>
            <a:r>
              <a:rPr lang="en-US" altLang="en-US" sz="2000"/>
              <a:t>из</a:t>
            </a:r>
            <a:r>
              <a:rPr lang="en-US" altLang="ru-RU" sz="2000"/>
              <a:t> </a:t>
            </a:r>
            <a:r>
              <a:rPr lang="en-US" altLang="en-US" sz="2000"/>
              <a:t>фанеры</a:t>
            </a:r>
            <a:r>
              <a:rPr lang="en-US" altLang="ru-RU" sz="2000"/>
              <a:t>, </a:t>
            </a:r>
            <a:r>
              <a:rPr lang="en-US" altLang="en-US" sz="2000"/>
              <a:t>демонстрирующего</a:t>
            </a:r>
            <a:r>
              <a:rPr lang="en-US" altLang="ru-RU" sz="2000"/>
              <a:t> </a:t>
            </a:r>
            <a:r>
              <a:rPr lang="en-US" altLang="en-US" sz="2000"/>
              <a:t>основные</a:t>
            </a:r>
            <a:r>
              <a:rPr lang="en-US" altLang="ru-RU" sz="2000"/>
              <a:t> </a:t>
            </a:r>
            <a:r>
              <a:rPr lang="en-US" altLang="en-US" sz="2000"/>
              <a:t>движения</a:t>
            </a:r>
            <a:r>
              <a:rPr lang="en-US" altLang="ru-RU" sz="2000"/>
              <a:t> </a:t>
            </a:r>
            <a:r>
              <a:rPr lang="en-US" altLang="en-US" sz="2000"/>
              <a:t>стрелы</a:t>
            </a:r>
            <a:r>
              <a:rPr lang="en-US" altLang="ru-RU" sz="2000"/>
              <a:t> </a:t>
            </a:r>
            <a:r>
              <a:rPr lang="en-US" altLang="en-US" sz="2000"/>
              <a:t>и</a:t>
            </a:r>
            <a:r>
              <a:rPr lang="en-US" altLang="ru-RU" sz="2000"/>
              <a:t> </a:t>
            </a:r>
            <a:r>
              <a:rPr lang="en-US" altLang="en-US" sz="2000"/>
              <a:t>ковша</a:t>
            </a:r>
            <a:r>
              <a:rPr lang="en-US" altLang="ru-RU" sz="2000"/>
              <a:t>.</a:t>
            </a:r>
            <a:endParaRPr lang="en-US" altLang="ru-RU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Сборка модели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567180"/>
            <a:ext cx="10972800" cy="4560570"/>
          </a:xfrm>
        </p:spPr>
        <p:txBody>
          <a:bodyPr/>
          <a:p>
            <a:pPr marL="0" indent="0">
              <a:buNone/>
            </a:pPr>
            <a:r>
              <a:rPr lang="ru-RU" altLang="en-US" sz="2000"/>
              <a:t>Первой задачей была разработка валов для колёс модели и обеспечения её движения</a:t>
            </a:r>
            <a:endParaRPr lang="ru-RU" altLang="en-US" sz="2000"/>
          </a:p>
        </p:txBody>
      </p:sp>
      <p:pic>
        <p:nvPicPr>
          <p:cNvPr id="6" name="Изображение 5" descr="photo_2025-10-05_12-40-08"/>
          <p:cNvPicPr>
            <a:picLocks noChangeAspect="1"/>
          </p:cNvPicPr>
          <p:nvPr/>
        </p:nvPicPr>
        <p:blipFill>
          <a:blip r:embed="rId1"/>
          <a:srcRect l="31654" t="22141" r="36549" b="14282"/>
          <a:stretch>
            <a:fillRect/>
          </a:stretch>
        </p:blipFill>
        <p:spPr>
          <a:xfrm>
            <a:off x="3449955" y="2155825"/>
            <a:ext cx="3844290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Ограничения в работе над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Размер механизма не более 120*120*150мм</a:t>
            </a:r>
            <a:endParaRPr lang="ru-RU" altLang="en-US"/>
          </a:p>
          <a:p>
            <a:r>
              <a:rPr lang="ru-RU" altLang="en-US"/>
              <a:t>Ширина для крепления механизма 65мм</a:t>
            </a:r>
            <a:endParaRPr lang="ru-RU" altLang="en-US"/>
          </a:p>
          <a:p>
            <a:r>
              <a:rPr lang="ru-RU" altLang="en-US"/>
              <a:t>Высота от крепления механизма до плащадки модели 60мм</a:t>
            </a:r>
            <a:endParaRPr lang="ru-RU" altLang="en-US"/>
          </a:p>
          <a:p>
            <a:r>
              <a:rPr lang="ru-RU" altLang="en-US"/>
              <a:t>Длина от крепления механизма до конца площадки модели 80мм</a:t>
            </a:r>
            <a:endParaRPr lang="ru-RU" altLang="en-US"/>
          </a:p>
          <a:p>
            <a:r>
              <a:rPr lang="ru-RU" altLang="en-US"/>
              <a:t>Минимальная высота подъёма ковша 120мм</a:t>
            </a:r>
            <a:endParaRPr lang="ru-RU" altLang="en-US"/>
          </a:p>
          <a:p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Разработка механизма и сложности 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174750"/>
            <a:ext cx="9297670" cy="5537200"/>
          </a:xfrm>
        </p:spPr>
        <p:txBody>
          <a:bodyPr/>
          <a:p>
            <a:pPr marL="0" indent="0">
              <a:buNone/>
            </a:pPr>
            <a:r>
              <a:rPr lang="ru-RU" altLang="en-US" sz="2000"/>
              <a:t>В процессе разработки наша команда столкнулась со сложностью создания формы для стрелы макета погрузчика.</a:t>
            </a:r>
            <a:endParaRPr lang="ru-RU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ru-RU" altLang="en-US" sz="2000"/>
              <a:t>Начальный вариант</a:t>
            </a:r>
            <a:r>
              <a:rPr lang="en-US" altLang="en-US" sz="2000"/>
              <a:t>:</a:t>
            </a:r>
            <a:r>
              <a:rPr lang="ru-RU" altLang="en-US" sz="2000"/>
              <a:t>                                            Доработки</a:t>
            </a:r>
            <a:r>
              <a:rPr lang="en-US" altLang="en-US" sz="2000"/>
              <a:t>:</a:t>
            </a:r>
            <a:endParaRPr lang="ru-RU" altLang="en-US" sz="2000"/>
          </a:p>
          <a:p>
            <a:pPr marL="0" indent="0">
              <a:buNone/>
            </a:pPr>
            <a:endParaRPr lang="ru-RU" altLang="en-US" sz="2000"/>
          </a:p>
        </p:txBody>
      </p:sp>
      <p:pic>
        <p:nvPicPr>
          <p:cNvPr id="4" name="Изображение 3" descr="photo_2025-10-05_11-53-38"/>
          <p:cNvPicPr>
            <a:picLocks noChangeAspect="1"/>
          </p:cNvPicPr>
          <p:nvPr/>
        </p:nvPicPr>
        <p:blipFill>
          <a:blip r:embed="rId1"/>
          <a:srcRect l="21792" t="22741" b="9864"/>
          <a:stretch>
            <a:fillRect/>
          </a:stretch>
        </p:blipFill>
        <p:spPr>
          <a:xfrm>
            <a:off x="194945" y="3099435"/>
            <a:ext cx="4917440" cy="2780030"/>
          </a:xfrm>
          <a:prstGeom prst="rect">
            <a:avLst/>
          </a:prstGeom>
        </p:spPr>
      </p:pic>
      <p:pic>
        <p:nvPicPr>
          <p:cNvPr id="5" name="Изображение 4" descr="photo_2025-10-05_11-55-57"/>
          <p:cNvPicPr>
            <a:picLocks noChangeAspect="1"/>
          </p:cNvPicPr>
          <p:nvPr/>
        </p:nvPicPr>
        <p:blipFill>
          <a:blip r:embed="rId2"/>
          <a:srcRect l="28385" t="20683" r="29117" b="5336"/>
          <a:stretch>
            <a:fillRect/>
          </a:stretch>
        </p:blipFill>
        <p:spPr>
          <a:xfrm rot="5400000">
            <a:off x="7109460" y="2383155"/>
            <a:ext cx="3956685" cy="4700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865" y="190500"/>
            <a:ext cx="11392535" cy="582930"/>
          </a:xfrm>
        </p:spPr>
        <p:txBody>
          <a:bodyPr/>
          <a:p>
            <a:r>
              <a:rPr lang="ru-RU" altLang="en-US"/>
              <a:t>Конечная модель и её преимущества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89230" y="1174750"/>
            <a:ext cx="11670030" cy="5605145"/>
          </a:xfrm>
        </p:spPr>
        <p:txBody>
          <a:bodyPr/>
          <a:p>
            <a:pPr marL="0" indent="0">
              <a:buNone/>
            </a:pPr>
            <a:r>
              <a:rPr lang="ru-RU" altLang="en-US" sz="2000"/>
              <a:t>Преимущества</a:t>
            </a:r>
            <a:r>
              <a:rPr lang="en-US" altLang="en-US" sz="2000"/>
              <a:t>: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- простая форма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- отсутствие лишних деталей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- подходящие размеры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- прочная форма (снижает прогиб и изгиб при нагрузке, повышает устойчивость к кручению)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- компенсирует слабость материала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Уневирсальность формы - такая форма стрелы может быть легко адаптирована под разные типы ковшей и размеры макета, 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при этом сохраняет устойчивость,</a:t>
            </a:r>
            <a:endParaRPr lang="ru-RU" altLang="en-US" sz="2000"/>
          </a:p>
          <a:p>
            <a:pPr marL="0" indent="0">
              <a:buNone/>
            </a:pPr>
            <a:r>
              <a:rPr lang="ru-RU" altLang="en-US" sz="2000"/>
              <a:t>компактность и удобство сборки.</a:t>
            </a:r>
            <a:endParaRPr lang="ru-RU" altLang="en-US" sz="2000"/>
          </a:p>
          <a:p>
            <a:pPr marL="0" indent="0">
              <a:buNone/>
            </a:pPr>
            <a:endParaRPr lang="ru-RU" altLang="en-US" sz="2000"/>
          </a:p>
          <a:p>
            <a:pPr marL="0" indent="0">
              <a:buNone/>
            </a:pPr>
            <a:endParaRPr lang="ru-RU" altLang="en-US" sz="2000"/>
          </a:p>
        </p:txBody>
      </p:sp>
      <p:pic>
        <p:nvPicPr>
          <p:cNvPr id="4" name="Изображение 3" descr="photo_2025-10-05_11-59-14"/>
          <p:cNvPicPr>
            <a:picLocks noChangeAspect="1"/>
          </p:cNvPicPr>
          <p:nvPr/>
        </p:nvPicPr>
        <p:blipFill>
          <a:blip r:embed="rId1"/>
          <a:srcRect l="27555" t="29197" r="29348" b="20833"/>
          <a:stretch>
            <a:fillRect/>
          </a:stretch>
        </p:blipFill>
        <p:spPr>
          <a:xfrm>
            <a:off x="4429760" y="4038600"/>
            <a:ext cx="4209415" cy="2741295"/>
          </a:xfrm>
          <a:prstGeom prst="rect">
            <a:avLst/>
          </a:prstGeom>
        </p:spPr>
      </p:pic>
      <p:pic>
        <p:nvPicPr>
          <p:cNvPr id="5" name="Изображение 4" descr="photo_2025-10-05_12-00-39"/>
          <p:cNvPicPr>
            <a:picLocks noChangeAspect="1"/>
          </p:cNvPicPr>
          <p:nvPr/>
        </p:nvPicPr>
        <p:blipFill>
          <a:blip r:embed="rId2"/>
          <a:srcRect l="37090" t="21065" r="25990" b="13808"/>
          <a:stretch>
            <a:fillRect/>
          </a:stretch>
        </p:blipFill>
        <p:spPr>
          <a:xfrm>
            <a:off x="8717915" y="4037965"/>
            <a:ext cx="3359150" cy="2741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Разработка ковша 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174750"/>
            <a:ext cx="8023225" cy="4953000"/>
          </a:xfrm>
        </p:spPr>
        <p:txBody>
          <a:bodyPr/>
          <a:p>
            <a:pPr marL="0" indent="0">
              <a:buNone/>
            </a:pPr>
            <a:r>
              <a:rPr lang="ru-RU" altLang="en-US" sz="2000"/>
              <a:t>Эта деталь не составила трудностей в разработке. Трудность возникла в разработке крепления к стреле. </a:t>
            </a:r>
            <a:endParaRPr lang="ru-RU" altLang="en-US" sz="2000"/>
          </a:p>
        </p:txBody>
      </p:sp>
      <p:pic>
        <p:nvPicPr>
          <p:cNvPr id="4" name="Изображение 3" descr="photo_2025-10-04_01-39-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0345" y="2082165"/>
            <a:ext cx="5479415" cy="4633595"/>
          </a:xfrm>
          <a:prstGeom prst="rect">
            <a:avLst/>
          </a:prstGeom>
        </p:spPr>
      </p:pic>
      <p:pic>
        <p:nvPicPr>
          <p:cNvPr id="5" name="Изображение 4" descr="photo_2025-10-05_12-24-03"/>
          <p:cNvPicPr>
            <a:picLocks noChangeAspect="1"/>
          </p:cNvPicPr>
          <p:nvPr/>
        </p:nvPicPr>
        <p:blipFill>
          <a:blip r:embed="rId2"/>
          <a:srcRect l="18542" t="19803" r="37617" b="8368"/>
          <a:stretch>
            <a:fillRect/>
          </a:stretch>
        </p:blipFill>
        <p:spPr>
          <a:xfrm>
            <a:off x="115570" y="2081530"/>
            <a:ext cx="5028565" cy="4634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Сборка прототипа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 sz="2000"/>
              <a:t>Модель предполагаемого механизма</a:t>
            </a:r>
            <a:r>
              <a:rPr lang="en-US" altLang="en-US" sz="2000"/>
              <a:t>:</a:t>
            </a:r>
            <a:endParaRPr lang="en-US" altLang="en-US" sz="2000"/>
          </a:p>
        </p:txBody>
      </p:sp>
      <p:pic>
        <p:nvPicPr>
          <p:cNvPr id="4" name="Изображение 3" descr="photo_2025-10-05_12-27-37"/>
          <p:cNvPicPr>
            <a:picLocks noChangeAspect="1"/>
          </p:cNvPicPr>
          <p:nvPr/>
        </p:nvPicPr>
        <p:blipFill>
          <a:blip r:embed="rId1"/>
          <a:srcRect l="30332" t="28391" r="46432" b="17940"/>
          <a:stretch>
            <a:fillRect/>
          </a:stretch>
        </p:blipFill>
        <p:spPr>
          <a:xfrm>
            <a:off x="4258945" y="2310130"/>
            <a:ext cx="2938145" cy="3817620"/>
          </a:xfrm>
          <a:prstGeom prst="rect">
            <a:avLst/>
          </a:prstGeom>
        </p:spPr>
      </p:pic>
      <p:pic>
        <p:nvPicPr>
          <p:cNvPr id="5" name="Изображение 4" descr="photo_2025-10-05_12-28-16"/>
          <p:cNvPicPr>
            <a:picLocks noChangeAspect="1"/>
          </p:cNvPicPr>
          <p:nvPr/>
        </p:nvPicPr>
        <p:blipFill>
          <a:blip r:embed="rId2"/>
          <a:srcRect l="25655" t="28591" r="41329" b="22971"/>
          <a:stretch>
            <a:fillRect/>
          </a:stretch>
        </p:blipFill>
        <p:spPr>
          <a:xfrm>
            <a:off x="276225" y="2611120"/>
            <a:ext cx="3851275" cy="3216275"/>
          </a:xfrm>
          <a:prstGeom prst="rect">
            <a:avLst/>
          </a:prstGeom>
        </p:spPr>
      </p:pic>
      <p:pic>
        <p:nvPicPr>
          <p:cNvPr id="6" name="Изображение 5" descr="photo_2025-10-05_12-28-22"/>
          <p:cNvPicPr>
            <a:picLocks noChangeAspect="1"/>
          </p:cNvPicPr>
          <p:nvPr/>
        </p:nvPicPr>
        <p:blipFill>
          <a:blip r:embed="rId3"/>
          <a:srcRect l="28250" t="20529" r="41083" b="11859"/>
          <a:stretch>
            <a:fillRect/>
          </a:stretch>
        </p:blipFill>
        <p:spPr>
          <a:xfrm>
            <a:off x="7597775" y="1497330"/>
            <a:ext cx="3738880" cy="4630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Выводы по работе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414145"/>
            <a:ext cx="10972800" cy="4713605"/>
          </a:xfrm>
        </p:spPr>
        <p:txBody>
          <a:bodyPr/>
          <a:p>
            <a:pPr marL="0" indent="0">
              <a:buNone/>
            </a:pPr>
            <a:r>
              <a:rPr lang="ru-RU" altLang="en-US" sz="2000"/>
              <a:t>В рамках конкурса стояла задача разработки механизма подъёма ковша(стрела и ковш), столкнувшись с некоторыми трудностями(ограничения по размерам) нам удалось разработать прототип механизма.</a:t>
            </a:r>
            <a:endParaRPr lang="ru-RU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ru-RU" altLang="en-US" sz="4400"/>
          </a:p>
          <a:p>
            <a:pPr marL="0" indent="0" algn="ctr">
              <a:buNone/>
            </a:pPr>
            <a:endParaRPr lang="ru-RU" altLang="en-US" sz="4400"/>
          </a:p>
          <a:p>
            <a:pPr marL="0" indent="0" algn="ctr">
              <a:buNone/>
            </a:pPr>
            <a:r>
              <a:rPr lang="ru-RU" altLang="en-US" sz="4400"/>
              <a:t>Спасибо за внимание</a:t>
            </a:r>
            <a:r>
              <a:rPr lang="en-US" altLang="en-US" sz="4400"/>
              <a:t>!</a:t>
            </a:r>
            <a:endParaRPr lang="en-US" altLang="en-US" sz="4400"/>
          </a:p>
        </p:txBody>
      </p:sp>
      <p:pic>
        <p:nvPicPr>
          <p:cNvPr id="4" name="Изображение 3" descr="$RVEW78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5222240"/>
            <a:ext cx="4581525" cy="1362710"/>
          </a:xfrm>
          <a:prstGeom prst="rect">
            <a:avLst/>
          </a:prstGeom>
        </p:spPr>
      </p:pic>
      <p:pic>
        <p:nvPicPr>
          <p:cNvPr id="5" name="Изображение 4" descr="$R42A2H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645" y="5226685"/>
            <a:ext cx="2771775" cy="13582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3225</Words>
  <Application>WPS Presentation</Application>
  <PresentationFormat>宽屏</PresentationFormat>
  <Paragraphs>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DEMON</cp:lastModifiedBy>
  <cp:revision>4</cp:revision>
  <dcterms:created xsi:type="dcterms:W3CDTF">2025-07-23T00:59:00Z</dcterms:created>
  <dcterms:modified xsi:type="dcterms:W3CDTF">2025-10-05T07:42:47Z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1049-12.2.0.22556</vt:lpwstr>
  </property>
  <property fmtid="{D5CDD505-2E9C-101B-9397-08002B2CF9AE}" pid="3" name="ICV">
    <vt:lpwstr>BF5D3F70E84A4CA4B3438C8F16028C9F_11</vt:lpwstr>
  </property>
</Properties>
</file>